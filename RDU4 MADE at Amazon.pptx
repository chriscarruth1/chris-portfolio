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66" r:id="rId6"/>
    <p:sldId id="260" r:id="rId7"/>
    <p:sldId id="261" r:id="rId8"/>
    <p:sldId id="262" r:id="rId9"/>
    <p:sldId id="263" r:id="rId10"/>
    <p:sldId id="256" r:id="rId11"/>
    <p:sldId id="259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8E3"/>
    <a:srgbClr val="FFFFFF"/>
    <a:srgbClr val="42C2E6"/>
    <a:srgbClr val="F8991C"/>
    <a:srgbClr val="E28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94660"/>
  </p:normalViewPr>
  <p:slideViewPr>
    <p:cSldViewPr snapToGrid="0">
      <p:cViewPr>
        <p:scale>
          <a:sx n="50" d="100"/>
          <a:sy n="50" d="100"/>
        </p:scale>
        <p:origin x="46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7474-1C86-0B8D-174B-D04147C00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40B96-12BA-6BC1-8EAA-8D2F2006D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9EC95-6826-C5CC-A0A4-A5233DCE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7AF53-9616-BC8C-B04C-F805C77C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C7197-2D24-9ED2-C3AF-C50ED24A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8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989F-C486-1030-1B67-16B41756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A6A5-4257-DB16-EE2C-060DF2D7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AE1-84F4-C73B-2217-D71EEBFF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A516B-6A3D-4274-9ACB-13123BF3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27A54-68EE-7573-7EA4-D66E2061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5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591A-226A-AED0-14CB-8999E0D9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3E3DF-638C-B6FF-5DC2-FEB94905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75D6-3846-74D1-4E65-D3CFAFF9F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72752-7AA0-6837-9630-A1CC6B98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7B686-00C5-7A48-7B59-EF308A44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7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851D-58CA-463B-D384-A11059A1F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842CD-57ED-78C0-4B56-196770B43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4A32B-2E2F-510A-AECE-C2F4FC299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DF366-4750-61C3-8E60-873A6377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ED7C5-6ABA-1A1E-3B0E-9D9D2B71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8CD3F-F4D9-82A4-C37A-4DD5776C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3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6710-86F7-74C7-D05D-6BD515FD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2FFD2-E896-860C-5E1F-97C1ABD6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06523-BF43-BED4-4F47-2DB07D8BD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614B3-5B79-A294-CBBD-A5BDEBEF1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F2CA6-5138-400C-D20D-D12F8F1F4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62F8E-0F46-2E3B-3EE4-20694D31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5D731-2554-19F4-4AD9-84D8C8C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FBEDE-9F02-987D-EB03-83361E11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7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6982-4513-CC88-434F-523E20A6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43F23-25FA-D932-2B21-12B90EDE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DF90F-29F7-8643-965E-80BC5AA5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CBA48-4C6B-BD6B-E867-7F1C10FB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0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89EA3-9C99-2005-1D7B-880DE53B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CC345-9187-242E-7A11-CC013A8E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D51D7-3725-46ED-8D12-F1958988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A857-0CE7-317D-62AA-E5E9EF87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7C31-D965-AC6E-1D3C-17213549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77615-CB06-857D-A388-A28F92EEA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0B45E-AF0B-5891-52A3-86E9EB3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CA9A1-1282-D385-3C52-22032823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EECB1-F209-8F27-C10D-8A20C97C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4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908-02BB-7988-43A1-AA91AF4B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BCA6E-AC55-ECEE-AB81-D303905BC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9468E-1DEB-4068-6F4E-F2BC6C973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B69B9-5A49-F187-65D3-DC073FDD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BF64-591B-B14C-4A75-C00CC45F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55E18-EB3D-3822-A180-0E5CD90C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8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10FB-5FF1-8ADD-F95E-F755F5DF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12A85-ACD7-7FD7-AB2E-03128BF99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D09A-CF90-EC30-D032-8CE77446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7F002-FB8A-BDA1-17F7-CAD9381D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038B-4047-A58B-9096-19C76F2B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0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DA1EF-4AE6-B0CE-A346-42FF72CD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3D21D-9123-9DC5-B3E5-D1CD70D44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19EA8-4363-49DA-E782-07CB5C32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2D36-E2ED-503A-8D48-BFE56D2C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35AA-D3DF-35BF-51CF-CE48BACC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5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B76D2-70DB-EE9A-1DD0-D09545B1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10A5-4CE9-6AE2-E9A8-4EB11A735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472E-5FE5-A97E-158D-5172751E8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68B67-C82C-4DE3-8C0C-D97028164C3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A7F24-4111-6C1E-9529-575E229FC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6D612-D6C4-FCFB-00F9-48BE5E283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A4BC4-94CE-4BC0-B5D3-C441D091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0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A07F57-EBB8-75DD-907D-F3B06683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RDU4 MADE at Amazon Program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E1D1CF-4FCE-5274-C757-391BE332E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Objective: </a:t>
            </a:r>
            <a:r>
              <a:rPr lang="en-US" dirty="0"/>
              <a:t>To celebrate and recognize associates who consistently contribute to a positive work environment, enhance customer experiences, strengthen team collaboration, and uplift morale through outstanding performance, acts of kindness, and shared success.</a:t>
            </a:r>
          </a:p>
        </p:txBody>
      </p:sp>
    </p:spTree>
    <p:extLst>
      <p:ext uri="{BB962C8B-B14F-4D97-AF65-F5344CB8AC3E}">
        <p14:creationId xmlns:p14="http://schemas.microsoft.com/office/powerpoint/2010/main" val="286875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9AC4-67F8-90BE-D5AD-8DD81EFC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490F1D-26A7-457E-382D-D654CC29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RDU4 MADE at Amazon Program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41F8EB-8CE8-14CE-E890-5272F836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Framework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25199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C4DC-C073-965B-3352-07558495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Weekly Initiatives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AB036-F9FE-12A9-7536-9D962AC53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Shout-out Board</a:t>
            </a:r>
            <a:r>
              <a:rPr lang="en-US" dirty="0"/>
              <a:t>: A physical or digital space where associates can recognize coworkers who have gone above and beyond.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Mini-Spotlights</a:t>
            </a:r>
            <a:r>
              <a:rPr lang="en-US" dirty="0"/>
              <a:t>: Managers select one associate per department to highlight in team meetings.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Peer Recognition Cards</a:t>
            </a:r>
            <a:r>
              <a:rPr lang="en-US" dirty="0"/>
              <a:t>: Associates can write quick “thank you” notes to each other, fostering a culture of appreciation.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Station Pass:  </a:t>
            </a:r>
            <a:r>
              <a:rPr lang="en-US" dirty="0"/>
              <a:t>Associate will receive a Station Pass that will allow the associate a one-time opportunity to move to a station for path of choosing.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7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376B-C284-4D15-6B6E-0463E203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Monthly Initiatives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C267-DC80-9BCB-6522-73009B0B2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M.A.D.E. at Amazon</a:t>
            </a:r>
            <a:r>
              <a:rPr lang="en-US" dirty="0"/>
              <a:t>: Nominate and recognize associates who have shown exemplary dedication. Categories  within Amazon Leadership Principles.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 Activity</a:t>
            </a:r>
            <a:r>
              <a:rPr lang="en-US" dirty="0"/>
              <a:t>: Encourage engagement through themed events like “Pizza &amp; Praise” or “Coffee &amp; Kudos.”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Social Media Feature/Newsletter: </a:t>
            </a:r>
            <a:r>
              <a:rPr lang="en-US" dirty="0"/>
              <a:t>Highlight outstanding associates on internal communication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2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4683-F38F-020B-A895-091AA3AE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Quarterly Initiatives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B2B7-F6A0-C806-37B5-2AF85CCA6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Recognition Luncheon</a:t>
            </a:r>
            <a:r>
              <a:rPr lang="en-US" dirty="0"/>
              <a:t>: A small event to celebrate top-performing associates, featuring certificates or small gifts.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Manager’s Choice Recognition</a:t>
            </a:r>
            <a:r>
              <a:rPr lang="en-US" dirty="0"/>
              <a:t>: Leaders select associates who’ve demonstrated commitment beyond their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Impact Stories</a:t>
            </a:r>
            <a:r>
              <a:rPr lang="en-US" dirty="0"/>
              <a:t>: Share stories of how recognized employees have influenced the workplace positively.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1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BADF-BDC5-A30C-907B-B4948C9C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Annual Initiatives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F1A58-AEF6-F382-A035-86BBD43C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Associate of the Year Award</a:t>
            </a:r>
            <a:r>
              <a:rPr lang="en-US" dirty="0"/>
              <a:t>: Recognizing the most impactful associate with an award and additional perks (gift card, extra day off,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Leadership Development Opportunity</a:t>
            </a:r>
            <a:r>
              <a:rPr lang="en-US" dirty="0"/>
              <a:t>: Offer professional development rewards such as mentorship programs or training sessions for top contributors.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Give Back Event</a:t>
            </a:r>
            <a:r>
              <a:rPr lang="en-US" dirty="0"/>
              <a:t>: Organize a community service event with recognized associates leading the initiative.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38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9886977-3E62-192F-3149-74E8F82036A0}"/>
              </a:ext>
            </a:extLst>
          </p:cNvPr>
          <p:cNvGrpSpPr/>
          <p:nvPr/>
        </p:nvGrpSpPr>
        <p:grpSpPr>
          <a:xfrm>
            <a:off x="470218" y="1740929"/>
            <a:ext cx="4015530" cy="3368120"/>
            <a:chOff x="3838893" y="1737280"/>
            <a:chExt cx="2232207" cy="127735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044DE4A-57AA-2CD1-8F0A-11A030B01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0293" t="32639" r="49140" b="23194"/>
            <a:stretch/>
          </p:blipFill>
          <p:spPr>
            <a:xfrm>
              <a:off x="3838893" y="1737280"/>
              <a:ext cx="1571580" cy="127735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C700B6-4305-593C-C150-FEF8AE2D360A}"/>
                </a:ext>
              </a:extLst>
            </p:cNvPr>
            <p:cNvSpPr txBox="1"/>
            <p:nvPr/>
          </p:nvSpPr>
          <p:spPr>
            <a:xfrm rot="902543">
              <a:off x="4813527" y="2061972"/>
              <a:ext cx="1257573" cy="81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RDU 4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0EF06C-5576-BC36-7618-8B8B21C70B67}"/>
              </a:ext>
            </a:extLst>
          </p:cNvPr>
          <p:cNvGrpSpPr/>
          <p:nvPr/>
        </p:nvGrpSpPr>
        <p:grpSpPr>
          <a:xfrm>
            <a:off x="0" y="5613400"/>
            <a:ext cx="12192000" cy="647700"/>
            <a:chOff x="0" y="5613400"/>
            <a:chExt cx="12192000" cy="6477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A53DA3C-EC16-D2C9-3922-476291C3FFE4}"/>
                </a:ext>
              </a:extLst>
            </p:cNvPr>
            <p:cNvSpPr/>
            <p:nvPr/>
          </p:nvSpPr>
          <p:spPr>
            <a:xfrm>
              <a:off x="0" y="5613400"/>
              <a:ext cx="12192000" cy="647700"/>
            </a:xfrm>
            <a:prstGeom prst="rect">
              <a:avLst/>
            </a:prstGeom>
            <a:solidFill>
              <a:srgbClr val="1DA8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/>
                <a:t>  M.A.D.E                          </a:t>
              </a:r>
              <a:r>
                <a:rPr lang="en-US" sz="2000" u="sng" dirty="0"/>
                <a:t>M</a:t>
              </a:r>
              <a:r>
                <a:rPr lang="en-US" sz="2000" dirty="0"/>
                <a:t>aking </a:t>
              </a:r>
              <a:r>
                <a:rPr lang="en-US" sz="2000" u="sng" dirty="0"/>
                <a:t>A</a:t>
              </a:r>
              <a:r>
                <a:rPr lang="en-US" sz="2000" dirty="0"/>
                <a:t> </a:t>
              </a:r>
              <a:r>
                <a:rPr lang="en-US" sz="2000" u="sng" dirty="0"/>
                <a:t>D</a:t>
              </a:r>
              <a:r>
                <a:rPr lang="en-US" sz="2000" dirty="0"/>
                <a:t>ifference </a:t>
              </a:r>
              <a:r>
                <a:rPr lang="en-US" sz="2000" u="sng" dirty="0"/>
                <a:t>E</a:t>
              </a:r>
              <a:r>
                <a:rPr lang="en-US" sz="2000" dirty="0"/>
                <a:t>veryday at AMAZON!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22DE75A-414F-26DD-3E50-ECC2DFD25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5917" y="5613400"/>
              <a:ext cx="823118" cy="6477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D412C8F-D559-9CD8-19B1-0D0615802563}"/>
              </a:ext>
            </a:extLst>
          </p:cNvPr>
          <p:cNvSpPr txBox="1"/>
          <p:nvPr/>
        </p:nvSpPr>
        <p:spPr>
          <a:xfrm>
            <a:off x="997350" y="456379"/>
            <a:ext cx="8641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1DA8E3"/>
                </a:solidFill>
              </a:rPr>
              <a:t>M.A.D.E.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4468D0-DE8C-D378-3C94-583939C486F5}"/>
              </a:ext>
            </a:extLst>
          </p:cNvPr>
          <p:cNvSpPr txBox="1"/>
          <p:nvPr/>
        </p:nvSpPr>
        <p:spPr>
          <a:xfrm>
            <a:off x="4150183" y="792441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1DA8E3"/>
                </a:solidFill>
              </a:rPr>
              <a:t>at AMAZON!</a:t>
            </a:r>
          </a:p>
        </p:txBody>
      </p:sp>
      <p:pic>
        <p:nvPicPr>
          <p:cNvPr id="32" name="Picture 31" descr="Shape, arrow&#10;&#10;AI-generated content may be incorrect.">
            <a:extLst>
              <a:ext uri="{FF2B5EF4-FFF2-40B4-BE49-F238E27FC236}">
                <a16:creationId xmlns:a16="http://schemas.microsoft.com/office/drawing/2014/main" id="{DD2EF436-5945-065B-79A2-837C9D968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1" t="45000" r="9191" b="30556"/>
          <a:stretch/>
        </p:blipFill>
        <p:spPr>
          <a:xfrm>
            <a:off x="5005681" y="1401099"/>
            <a:ext cx="1090319" cy="32655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B1ACEC3-3110-9CE4-440C-36E22AA6C6FD}"/>
              </a:ext>
            </a:extLst>
          </p:cNvPr>
          <p:cNvSpPr/>
          <p:nvPr/>
        </p:nvSpPr>
        <p:spPr>
          <a:xfrm>
            <a:off x="4010884" y="2413082"/>
            <a:ext cx="2596749" cy="290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Customer Obsession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Ownership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Invent and Simplify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Are Right, A lot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Learn and Be Curious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Hire and Develop the Best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Insist on the Highest Standards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Think Big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Bias for Action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89F9C2-184D-5489-6793-654CF7863428}"/>
              </a:ext>
            </a:extLst>
          </p:cNvPr>
          <p:cNvSpPr/>
          <p:nvPr/>
        </p:nvSpPr>
        <p:spPr>
          <a:xfrm>
            <a:off x="7321175" y="2402125"/>
            <a:ext cx="2596749" cy="290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Frugality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Earn Trust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Dive Deep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Have Backbone, Disagree and Commit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Deliver Results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Strive to be Earth’s Best Employer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DA8E3"/>
                </a:solidFill>
              </a:rPr>
              <a:t>Success and Scale Bring Broad Responsibility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53FF35-FB58-42F6-9E18-93F2262331B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549" y="397452"/>
            <a:ext cx="3026551" cy="122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63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0ECF-5529-C9F0-9D31-0C88E7B2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96675E-F9A8-42B3-FE7B-47D6FCE5ECA1}"/>
              </a:ext>
            </a:extLst>
          </p:cNvPr>
          <p:cNvGrpSpPr/>
          <p:nvPr/>
        </p:nvGrpSpPr>
        <p:grpSpPr>
          <a:xfrm>
            <a:off x="82391" y="1690688"/>
            <a:ext cx="12027218" cy="2908279"/>
            <a:chOff x="82391" y="1744940"/>
            <a:chExt cx="12027218" cy="290827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29649E-AD32-9A77-3DAF-6E3B0B2E010D}"/>
                </a:ext>
              </a:extLst>
            </p:cNvPr>
            <p:cNvSpPr/>
            <p:nvPr/>
          </p:nvSpPr>
          <p:spPr>
            <a:xfrm>
              <a:off x="82391" y="1920220"/>
              <a:ext cx="12027218" cy="2476500"/>
            </a:xfrm>
            <a:prstGeom prst="rect">
              <a:avLst/>
            </a:prstGeom>
            <a:solidFill>
              <a:srgbClr val="1DA8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6F3518-BB04-1236-11F5-EBD949A1BB37}"/>
                </a:ext>
              </a:extLst>
            </p:cNvPr>
            <p:cNvGrpSpPr/>
            <p:nvPr/>
          </p:nvGrpSpPr>
          <p:grpSpPr>
            <a:xfrm>
              <a:off x="279718" y="1744940"/>
              <a:ext cx="3504882" cy="2827060"/>
              <a:chOff x="3838893" y="1737280"/>
              <a:chExt cx="2232207" cy="127735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0B1BB50-30B4-A2CB-614C-F4CB339AE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0293" t="32639" r="49140" b="23194"/>
              <a:stretch/>
            </p:blipFill>
            <p:spPr>
              <a:xfrm>
                <a:off x="3838893" y="1737280"/>
                <a:ext cx="1571580" cy="12773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24F90E-6DE5-66F5-A86D-6BA9B2236AA0}"/>
                  </a:ext>
                </a:extLst>
              </p:cNvPr>
              <p:cNvSpPr txBox="1"/>
              <p:nvPr/>
            </p:nvSpPr>
            <p:spPr>
              <a:xfrm rot="902543">
                <a:off x="4813527" y="2061972"/>
                <a:ext cx="1257573" cy="81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RDU 4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2C5259B-C6BB-1178-698D-61D66A5A5F3B}"/>
                </a:ext>
              </a:extLst>
            </p:cNvPr>
            <p:cNvGrpSpPr/>
            <p:nvPr/>
          </p:nvGrpSpPr>
          <p:grpSpPr>
            <a:xfrm>
              <a:off x="3296943" y="1992612"/>
              <a:ext cx="7206575" cy="647700"/>
              <a:chOff x="3296943" y="1992612"/>
              <a:chExt cx="7206575" cy="6477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EC7524-5CC5-690A-01EE-1FCE2078AAD6}"/>
                  </a:ext>
                </a:extLst>
              </p:cNvPr>
              <p:cNvSpPr/>
              <p:nvPr/>
            </p:nvSpPr>
            <p:spPr>
              <a:xfrm>
                <a:off x="3296943" y="1992612"/>
                <a:ext cx="7206575" cy="647700"/>
              </a:xfrm>
              <a:prstGeom prst="rect">
                <a:avLst/>
              </a:prstGeom>
              <a:solidFill>
                <a:srgbClr val="1DA8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/>
                  <a:t>  M.A.D.E                 </a:t>
                </a:r>
                <a:r>
                  <a:rPr lang="en-US" sz="2000" u="sng" dirty="0"/>
                  <a:t>M</a:t>
                </a:r>
                <a:r>
                  <a:rPr lang="en-US" sz="2000" dirty="0"/>
                  <a:t>aking </a:t>
                </a:r>
                <a:r>
                  <a:rPr lang="en-US" sz="2000" u="sng" dirty="0"/>
                  <a:t>A</a:t>
                </a:r>
                <a:r>
                  <a:rPr lang="en-US" sz="2000" dirty="0"/>
                  <a:t> </a:t>
                </a:r>
                <a:r>
                  <a:rPr lang="en-US" sz="2000" u="sng" dirty="0"/>
                  <a:t>D</a:t>
                </a:r>
                <a:r>
                  <a:rPr lang="en-US" sz="2000" dirty="0"/>
                  <a:t>ifference </a:t>
                </a:r>
                <a:r>
                  <a:rPr lang="en-US" sz="2000" u="sng" dirty="0"/>
                  <a:t>E</a:t>
                </a:r>
                <a:r>
                  <a:rPr lang="en-US" sz="2000" dirty="0"/>
                  <a:t>veryday at AMAZON!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2DA124C-BDD5-7EB8-CB8B-C5D9215C0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3577" y="1992612"/>
                <a:ext cx="486537" cy="647700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AA3F15-25CF-92C0-2697-FF1284830C88}"/>
                </a:ext>
              </a:extLst>
            </p:cNvPr>
            <p:cNvSpPr txBox="1"/>
            <p:nvPr/>
          </p:nvSpPr>
          <p:spPr>
            <a:xfrm>
              <a:off x="2747322" y="2837337"/>
              <a:ext cx="70993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I made a Difference at RDU 4!</a:t>
              </a:r>
            </a:p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“Ownership”</a:t>
              </a:r>
            </a:p>
            <a:p>
              <a:endParaRPr lang="en-US" sz="40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62C4D9C9-708F-0E0D-DE3D-37306CD8C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371605" y="2456336"/>
              <a:ext cx="1258384" cy="115373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4E3A0C-2598-7B88-46B2-BA31EB99CBD5}"/>
                </a:ext>
              </a:extLst>
            </p:cNvPr>
            <p:cNvSpPr txBox="1"/>
            <p:nvPr/>
          </p:nvSpPr>
          <p:spPr>
            <a:xfrm>
              <a:off x="10371605" y="3694478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Joe </a:t>
              </a:r>
              <a:r>
                <a:rPr lang="en-US" sz="1400" dirty="0" err="1">
                  <a:solidFill>
                    <a:schemeClr val="bg1"/>
                  </a:solidFill>
                </a:rPr>
                <a:t>Peccy</a:t>
              </a:r>
              <a:endParaRPr lang="en-US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BHD Dock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5215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C130729-C6A4-3261-98C3-95295B5F2DBA}"/>
              </a:ext>
            </a:extLst>
          </p:cNvPr>
          <p:cNvGrpSpPr/>
          <p:nvPr/>
        </p:nvGrpSpPr>
        <p:grpSpPr>
          <a:xfrm>
            <a:off x="82391" y="1416072"/>
            <a:ext cx="12027218" cy="3422432"/>
            <a:chOff x="82391" y="2724172"/>
            <a:chExt cx="12027218" cy="34224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A6ECBA-D166-CF7F-91D1-7D9E721A7503}"/>
                </a:ext>
              </a:extLst>
            </p:cNvPr>
            <p:cNvSpPr/>
            <p:nvPr/>
          </p:nvSpPr>
          <p:spPr>
            <a:xfrm>
              <a:off x="82391" y="2724172"/>
              <a:ext cx="12027218" cy="34224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035B62-D980-E0DC-3B8E-6037879C0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0293" t="32639" r="49140" b="23194"/>
            <a:stretch/>
          </p:blipFill>
          <p:spPr>
            <a:xfrm>
              <a:off x="279718" y="2908279"/>
              <a:ext cx="2467604" cy="282706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4DE7E2-995A-6F38-D949-26958B7CF59D}"/>
                </a:ext>
              </a:extLst>
            </p:cNvPr>
            <p:cNvSpPr txBox="1"/>
            <p:nvPr/>
          </p:nvSpPr>
          <p:spPr>
            <a:xfrm>
              <a:off x="2881310" y="3628993"/>
              <a:ext cx="70993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I made a Difference at RDU 4!</a:t>
              </a:r>
            </a:p>
            <a:p>
              <a:pPr algn="ctr"/>
              <a:r>
                <a:rPr lang="en-US" sz="2800" b="1" dirty="0"/>
                <a:t>“Ownership”</a:t>
              </a:r>
            </a:p>
            <a:p>
              <a:endParaRPr lang="en-US" sz="4000" b="1" dirty="0"/>
            </a:p>
          </p:txBody>
        </p:sp>
        <p:pic>
          <p:nvPicPr>
            <p:cNvPr id="22" name="Picture 21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E7E7FEAF-4145-853E-CF58-B9FA73E2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384471" y="3246836"/>
              <a:ext cx="1258384" cy="115373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4A8385-6749-F1DF-2868-87FD5211151A}"/>
                </a:ext>
              </a:extLst>
            </p:cNvPr>
            <p:cNvSpPr txBox="1"/>
            <p:nvPr/>
          </p:nvSpPr>
          <p:spPr>
            <a:xfrm>
              <a:off x="10384471" y="4536934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BHD Dock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E8CA1D-0029-6E9A-2D32-07582168A395}"/>
                </a:ext>
              </a:extLst>
            </p:cNvPr>
            <p:cNvSpPr txBox="1"/>
            <p:nvPr/>
          </p:nvSpPr>
          <p:spPr>
            <a:xfrm>
              <a:off x="949243" y="5532574"/>
              <a:ext cx="1962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at AMAZON!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C87078-58B4-91BF-BF05-B7D993EDE2C3}"/>
                </a:ext>
              </a:extLst>
            </p:cNvPr>
            <p:cNvSpPr txBox="1"/>
            <p:nvPr/>
          </p:nvSpPr>
          <p:spPr>
            <a:xfrm>
              <a:off x="145730" y="2767327"/>
              <a:ext cx="3559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Making A Difference Everyday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016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C9F515E-98D8-77AC-A787-1C2928787224}"/>
              </a:ext>
            </a:extLst>
          </p:cNvPr>
          <p:cNvGrpSpPr/>
          <p:nvPr/>
        </p:nvGrpSpPr>
        <p:grpSpPr>
          <a:xfrm>
            <a:off x="4515009" y="-10690"/>
            <a:ext cx="3161982" cy="2310371"/>
            <a:chOff x="3838893" y="1737280"/>
            <a:chExt cx="2232207" cy="12773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CF4F18-B4AD-641C-DCD7-FE00F2885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0293" t="32639" r="49140" b="23194"/>
            <a:stretch/>
          </p:blipFill>
          <p:spPr>
            <a:xfrm>
              <a:off x="3838893" y="1737280"/>
              <a:ext cx="1571580" cy="12773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F36BF6-593E-4D4E-925E-FAAA84965A6D}"/>
                </a:ext>
              </a:extLst>
            </p:cNvPr>
            <p:cNvSpPr txBox="1"/>
            <p:nvPr/>
          </p:nvSpPr>
          <p:spPr>
            <a:xfrm rot="902543">
              <a:off x="4813527" y="2061972"/>
              <a:ext cx="1257573" cy="81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RDU 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0A553F3-105C-68C7-320F-1DB7D019923A}"/>
              </a:ext>
            </a:extLst>
          </p:cNvPr>
          <p:cNvSpPr txBox="1"/>
          <p:nvPr/>
        </p:nvSpPr>
        <p:spPr>
          <a:xfrm>
            <a:off x="2427147" y="2204114"/>
            <a:ext cx="695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RDU 4 Wall of Fame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528530-0E19-ADE6-50E7-1E0DA0A1D294}"/>
              </a:ext>
            </a:extLst>
          </p:cNvPr>
          <p:cNvGrpSpPr/>
          <p:nvPr/>
        </p:nvGrpSpPr>
        <p:grpSpPr>
          <a:xfrm>
            <a:off x="2552317" y="2789463"/>
            <a:ext cx="1258384" cy="1816099"/>
            <a:chOff x="10371605" y="2438400"/>
            <a:chExt cx="1258384" cy="18160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DEE5942-DEA7-0846-B3DE-40BA8D15242F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DBBA4207-AF6D-3798-C546-A0ACDBBAB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FE2705-775A-AED6-20EB-CA4A016410A7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BHD IB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B4D774-D570-EE71-9632-A9CAB2999112}"/>
              </a:ext>
            </a:extLst>
          </p:cNvPr>
          <p:cNvGrpSpPr/>
          <p:nvPr/>
        </p:nvGrpSpPr>
        <p:grpSpPr>
          <a:xfrm>
            <a:off x="4561973" y="2802209"/>
            <a:ext cx="1258384" cy="1803354"/>
            <a:chOff x="10371605" y="2438400"/>
            <a:chExt cx="1258384" cy="181609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06D45E-51D0-63B9-3827-CCE60C983646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A6EF54C8-F9DC-2852-0983-E7391593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0AF60B-FC54-C733-0F45-09EF83F3CCEB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FHD OB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D681AC-2C6A-6BFB-E220-CBC2DFA97BF5}"/>
              </a:ext>
            </a:extLst>
          </p:cNvPr>
          <p:cNvGrpSpPr/>
          <p:nvPr/>
        </p:nvGrpSpPr>
        <p:grpSpPr>
          <a:xfrm>
            <a:off x="6452412" y="2802207"/>
            <a:ext cx="1258384" cy="1816099"/>
            <a:chOff x="10371605" y="2438400"/>
            <a:chExt cx="1258384" cy="18160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0393BE3-5C4E-9DEA-CFD2-4CBC9426B458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D5D5845A-46B0-AB17-2068-B30B09A40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2C34D8-3A47-7899-1878-CA443C7A4B3A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BHD OB</a:t>
              </a:r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F1542D6-1519-23AA-4F03-276DB12C0EA4}"/>
              </a:ext>
            </a:extLst>
          </p:cNvPr>
          <p:cNvGrpSpPr/>
          <p:nvPr/>
        </p:nvGrpSpPr>
        <p:grpSpPr>
          <a:xfrm>
            <a:off x="613053" y="2789463"/>
            <a:ext cx="1258384" cy="1816099"/>
            <a:chOff x="10371605" y="2438400"/>
            <a:chExt cx="1258384" cy="18160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2C0E216-8C79-B14F-78F2-7F17921A04AE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3D010B51-57FA-0855-CC0C-FC4718518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31E386C-4260-E901-7567-AFAC506F2C8D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FHD IB</a:t>
              </a:r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C725EC-282C-F054-B510-012B1348AD88}"/>
              </a:ext>
            </a:extLst>
          </p:cNvPr>
          <p:cNvGrpSpPr/>
          <p:nvPr/>
        </p:nvGrpSpPr>
        <p:grpSpPr>
          <a:xfrm>
            <a:off x="2552317" y="4940650"/>
            <a:ext cx="1258384" cy="1816099"/>
            <a:chOff x="10371605" y="2438400"/>
            <a:chExt cx="1258384" cy="181609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801C1FA-1389-E63D-DBE8-619A9CE87911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999DDD9E-19C9-31D6-2A55-6A3BBFE60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BB40D4-15FB-4B27-690E-B2CCAD4A73C7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BHN IB</a:t>
              </a:r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B60DB0-483C-33A3-6E67-13B04E960155}"/>
              </a:ext>
            </a:extLst>
          </p:cNvPr>
          <p:cNvGrpSpPr/>
          <p:nvPr/>
        </p:nvGrpSpPr>
        <p:grpSpPr>
          <a:xfrm>
            <a:off x="4561973" y="4953396"/>
            <a:ext cx="1258384" cy="1803354"/>
            <a:chOff x="10371605" y="2438400"/>
            <a:chExt cx="1258384" cy="181609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E643FF-05F2-A8BC-8241-38A8E1E4E761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FC6B014A-9363-A04D-8555-B55097485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2D6560F-ACBB-873A-4778-0BAE8C80C867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FHN OB</a:t>
              </a:r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108ED54-B256-0896-0590-F9AD80FC0F74}"/>
              </a:ext>
            </a:extLst>
          </p:cNvPr>
          <p:cNvGrpSpPr/>
          <p:nvPr/>
        </p:nvGrpSpPr>
        <p:grpSpPr>
          <a:xfrm>
            <a:off x="6452412" y="4953394"/>
            <a:ext cx="1258384" cy="1816099"/>
            <a:chOff x="10371605" y="2438400"/>
            <a:chExt cx="1258384" cy="181609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A4F893A-BC01-52C4-B024-853F0F333254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Picture 50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9369A65E-D730-401B-A38F-A1AA6BAD0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B1ECB6-BC02-9283-E897-71C2B098E198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BHN OB</a:t>
              </a:r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855E286-1138-5FA3-E8F7-45E34B601FC3}"/>
              </a:ext>
            </a:extLst>
          </p:cNvPr>
          <p:cNvGrpSpPr/>
          <p:nvPr/>
        </p:nvGrpSpPr>
        <p:grpSpPr>
          <a:xfrm>
            <a:off x="613053" y="4940650"/>
            <a:ext cx="1258384" cy="1816099"/>
            <a:chOff x="10371605" y="2438400"/>
            <a:chExt cx="1258384" cy="181609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6A2DB16-ECE1-9FC9-7233-CA47AB7C3347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E2AA0760-E524-D2DA-B4A5-591498F39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322C8D-EEA1-A2E4-3F23-2DFDB59E9AD8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FHN IB</a:t>
              </a:r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FCE00F4-906A-59A1-A897-D290C12D9EAA}"/>
              </a:ext>
            </a:extLst>
          </p:cNvPr>
          <p:cNvGrpSpPr/>
          <p:nvPr/>
        </p:nvGrpSpPr>
        <p:grpSpPr>
          <a:xfrm>
            <a:off x="8240512" y="2802207"/>
            <a:ext cx="1258384" cy="1816099"/>
            <a:chOff x="10371605" y="2438400"/>
            <a:chExt cx="1258384" cy="1816099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4C5DAE9-F8E1-F33E-603F-7A99096AA45F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B29C22AF-B1DF-5F30-9357-B6AE8BF9A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A7242C3-9E61-2B22-4925-5DFD4F9E5D51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Safety</a:t>
              </a:r>
              <a:endParaRPr lang="en-U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E99F44-03D9-A5D5-1F96-3F9F50E23737}"/>
              </a:ext>
            </a:extLst>
          </p:cNvPr>
          <p:cNvGrpSpPr/>
          <p:nvPr/>
        </p:nvGrpSpPr>
        <p:grpSpPr>
          <a:xfrm>
            <a:off x="8240512" y="4953394"/>
            <a:ext cx="1258384" cy="1816099"/>
            <a:chOff x="10371605" y="2438400"/>
            <a:chExt cx="1258384" cy="181609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61A318-293B-2B22-DB23-C516DD6F8AB9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Picture 70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84FEB975-2B18-07BE-EE12-158990CFE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21C958C-1439-EA2D-3AAF-1285A233A6E1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Safety</a:t>
              </a:r>
              <a:endParaRPr lang="en-US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1EF7743-A0CE-8F01-B86E-771F998241FD}"/>
              </a:ext>
            </a:extLst>
          </p:cNvPr>
          <p:cNvGrpSpPr/>
          <p:nvPr/>
        </p:nvGrpSpPr>
        <p:grpSpPr>
          <a:xfrm>
            <a:off x="10006423" y="2789463"/>
            <a:ext cx="1258384" cy="1816099"/>
            <a:chOff x="10371605" y="2438400"/>
            <a:chExt cx="1258384" cy="1816099"/>
          </a:xfrm>
          <a:solidFill>
            <a:srgbClr val="7030A0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EF740CD-6219-9F66-B3CB-23D76AFB310E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B02421AA-B0BA-9B5E-B160-7F3CBA8AB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  <a:grpFill/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5817EC8-9F79-0FDE-768C-8959BB1E4622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PXT</a:t>
              </a:r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31A8E58-E392-F63D-61CE-0A32CD12A3E8}"/>
              </a:ext>
            </a:extLst>
          </p:cNvPr>
          <p:cNvGrpSpPr/>
          <p:nvPr/>
        </p:nvGrpSpPr>
        <p:grpSpPr>
          <a:xfrm>
            <a:off x="10006423" y="4940650"/>
            <a:ext cx="1258384" cy="1816099"/>
            <a:chOff x="10371605" y="2438400"/>
            <a:chExt cx="1258384" cy="1816099"/>
          </a:xfrm>
          <a:solidFill>
            <a:srgbClr val="7030A0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B6C0CAC-367D-A638-4589-7A644AA92109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78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902CCB18-C19B-7434-4C4C-9DF3FD32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  <a:grpFill/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664272B-2337-4F32-2A02-29AC9C942639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PXT</a:t>
              </a:r>
              <a:endParaRPr lang="en-US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77FD040-0830-3AD4-9811-725FD9EA90B4}"/>
              </a:ext>
            </a:extLst>
          </p:cNvPr>
          <p:cNvSpPr txBox="1"/>
          <p:nvPr/>
        </p:nvSpPr>
        <p:spPr>
          <a:xfrm>
            <a:off x="1242245" y="2343556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Monthly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FA8131-17E0-70C5-0218-1BE543D2F81B}"/>
              </a:ext>
            </a:extLst>
          </p:cNvPr>
          <p:cNvSpPr txBox="1"/>
          <p:nvPr/>
        </p:nvSpPr>
        <p:spPr>
          <a:xfrm>
            <a:off x="8793303" y="2351694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Monthly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88F94E-5B11-F23D-8918-1994616F3262}"/>
              </a:ext>
            </a:extLst>
          </p:cNvPr>
          <p:cNvSpPr txBox="1"/>
          <p:nvPr/>
        </p:nvSpPr>
        <p:spPr>
          <a:xfrm>
            <a:off x="213314" y="79687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Quarter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AD4A53-4DB8-1ABE-76D2-B89C55DB3967}"/>
              </a:ext>
            </a:extLst>
          </p:cNvPr>
          <p:cNvSpPr txBox="1"/>
          <p:nvPr/>
        </p:nvSpPr>
        <p:spPr>
          <a:xfrm>
            <a:off x="1968356" y="94935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Quarter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448E318-D034-2686-5933-6186B7D217DF}"/>
              </a:ext>
            </a:extLst>
          </p:cNvPr>
          <p:cNvGrpSpPr/>
          <p:nvPr/>
        </p:nvGrpSpPr>
        <p:grpSpPr>
          <a:xfrm>
            <a:off x="2552495" y="449019"/>
            <a:ext cx="1258384" cy="1816099"/>
            <a:chOff x="10371605" y="2438400"/>
            <a:chExt cx="1258384" cy="1816099"/>
          </a:xfrm>
          <a:solidFill>
            <a:srgbClr val="7030A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8FB86C3-7CD4-E834-26CB-64BFB66DF184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7" name="Picture 86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8361A6C5-7F51-5DC2-4AAE-D843F8C78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  <a:grpFill/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3B15DB4-A0D0-0810-1132-497A09A3FF77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PXT</a:t>
              </a:r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059FFC9-CE29-DF3A-1A36-3ACF3E4F8E78}"/>
              </a:ext>
            </a:extLst>
          </p:cNvPr>
          <p:cNvGrpSpPr/>
          <p:nvPr/>
        </p:nvGrpSpPr>
        <p:grpSpPr>
          <a:xfrm>
            <a:off x="601958" y="425637"/>
            <a:ext cx="1258384" cy="1816099"/>
            <a:chOff x="10371605" y="2438400"/>
            <a:chExt cx="1258384" cy="1816099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AAAB0CE-E2E7-D220-62A3-35C533DD7FB3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solidFill>
              <a:srgbClr val="1DA8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1" name="Picture 90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67AADB82-2FD1-AFFE-AC86-C4B0CE87C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297CF53-C28E-C6BE-0520-C7C709CA821C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BHD IB</a:t>
              </a:r>
              <a:endParaRPr lang="en-US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FA43D56-4E2F-46DA-B3FD-5A327268DD33}"/>
              </a:ext>
            </a:extLst>
          </p:cNvPr>
          <p:cNvGrpSpPr/>
          <p:nvPr/>
        </p:nvGrpSpPr>
        <p:grpSpPr>
          <a:xfrm>
            <a:off x="9995328" y="461805"/>
            <a:ext cx="1258384" cy="1816099"/>
            <a:chOff x="10371605" y="2438400"/>
            <a:chExt cx="1258384" cy="1816099"/>
          </a:xfrm>
          <a:solidFill>
            <a:srgbClr val="7030A0"/>
          </a:solidFill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D7873C0-6E9C-4D45-ABC5-E566BAC365BA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153F9F97-693B-4AC0-82A8-2EA1654AD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  <a:grpFill/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2CFC50-FBA8-44C0-9360-5FF09EBB80D7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PXT</a:t>
              </a:r>
              <a:endParaRPr lang="en-US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2CB12B9-2781-4DCC-8BF2-C7ADC192F391}"/>
              </a:ext>
            </a:extLst>
          </p:cNvPr>
          <p:cNvGrpSpPr/>
          <p:nvPr/>
        </p:nvGrpSpPr>
        <p:grpSpPr>
          <a:xfrm>
            <a:off x="8240512" y="461805"/>
            <a:ext cx="1258384" cy="1816099"/>
            <a:chOff x="10371605" y="2438400"/>
            <a:chExt cx="1258384" cy="1816099"/>
          </a:xfrm>
          <a:solidFill>
            <a:srgbClr val="7030A0"/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EDCC3B9-0E2F-4640-B7AE-A0D8BB0BC3C5}"/>
                </a:ext>
              </a:extLst>
            </p:cNvPr>
            <p:cNvSpPr/>
            <p:nvPr/>
          </p:nvSpPr>
          <p:spPr>
            <a:xfrm>
              <a:off x="10371605" y="2438400"/>
              <a:ext cx="1258384" cy="181609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" name="Picture 98" descr="A picture containing clipart&#10;&#10;AI-generated content may be incorrect.">
              <a:extLst>
                <a:ext uri="{FF2B5EF4-FFF2-40B4-BE49-F238E27FC236}">
                  <a16:creationId xmlns:a16="http://schemas.microsoft.com/office/drawing/2014/main" id="{99CC1399-CB7E-4952-913A-BD1472F83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8" t="9514" r="21307" b="37342"/>
            <a:stretch/>
          </p:blipFill>
          <p:spPr>
            <a:xfrm>
              <a:off x="10449295" y="2611204"/>
              <a:ext cx="1103004" cy="1011277"/>
            </a:xfrm>
            <a:prstGeom prst="rect">
              <a:avLst/>
            </a:prstGeom>
            <a:grpFill/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6ADAB29-5D4E-4034-9CBC-BF39CB8210E9}"/>
                </a:ext>
              </a:extLst>
            </p:cNvPr>
            <p:cNvSpPr txBox="1"/>
            <p:nvPr/>
          </p:nvSpPr>
          <p:spPr>
            <a:xfrm>
              <a:off x="10371605" y="3640226"/>
              <a:ext cx="123619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Joe </a:t>
              </a:r>
              <a:r>
                <a:rPr lang="en-US" sz="1400" dirty="0" err="1"/>
                <a:t>Peccy</a:t>
              </a:r>
              <a:endParaRPr lang="en-US" sz="1400" dirty="0"/>
            </a:p>
            <a:p>
              <a:pPr algn="ctr"/>
              <a:r>
                <a:rPr lang="en-US" sz="1400" dirty="0"/>
                <a:t>PXT</a:t>
              </a:r>
              <a:endParaRPr lang="en-US" dirty="0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41A005E8-0FC4-42AC-85C3-F0A12F80B26F}"/>
              </a:ext>
            </a:extLst>
          </p:cNvPr>
          <p:cNvSpPr txBox="1"/>
          <p:nvPr/>
        </p:nvSpPr>
        <p:spPr>
          <a:xfrm>
            <a:off x="7849640" y="56305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3rd Quarter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0029CA1-832F-4BD4-8D65-635A30BDEE7F}"/>
              </a:ext>
            </a:extLst>
          </p:cNvPr>
          <p:cNvSpPr txBox="1"/>
          <p:nvPr/>
        </p:nvSpPr>
        <p:spPr>
          <a:xfrm>
            <a:off x="9701497" y="56305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4th Quarter</a:t>
            </a:r>
          </a:p>
        </p:txBody>
      </p:sp>
    </p:spTree>
    <p:extLst>
      <p:ext uri="{BB962C8B-B14F-4D97-AF65-F5344CB8AC3E}">
        <p14:creationId xmlns:p14="http://schemas.microsoft.com/office/powerpoint/2010/main" val="245150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D8FEBDC7F743807C56451107A216" ma:contentTypeVersion="14" ma:contentTypeDescription="Create a new document." ma:contentTypeScope="" ma:versionID="929846a0d20e885985b278be585778c0">
  <xsd:schema xmlns:xsd="http://www.w3.org/2001/XMLSchema" xmlns:xs="http://www.w3.org/2001/XMLSchema" xmlns:p="http://schemas.microsoft.com/office/2006/metadata/properties" xmlns:ns3="6f608f1c-edab-4e05-ab20-9eebfe732fdf" xmlns:ns4="677fdccf-a178-42ec-afd6-70e79a01267c" targetNamespace="http://schemas.microsoft.com/office/2006/metadata/properties" ma:root="true" ma:fieldsID="952840aeb5ab0f18f90cb93d97bad61a" ns3:_="" ns4:_="">
    <xsd:import namespace="6f608f1c-edab-4e05-ab20-9eebfe732fdf"/>
    <xsd:import namespace="677fdccf-a178-42ec-afd6-70e79a01267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08f1c-edab-4e05-ab20-9eebfe732f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7fdccf-a178-42ec-afd6-70e79a01267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608f1c-edab-4e05-ab20-9eebfe732fdf" xsi:nil="true"/>
  </documentManagement>
</p:properties>
</file>

<file path=customXml/itemProps1.xml><?xml version="1.0" encoding="utf-8"?>
<ds:datastoreItem xmlns:ds="http://schemas.openxmlformats.org/officeDocument/2006/customXml" ds:itemID="{0EFF69BF-1108-4953-944F-3B96F00F15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AE9FB9-4063-4CE6-9EE2-5708516B53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608f1c-edab-4e05-ab20-9eebfe732fdf"/>
    <ds:schemaRef ds:uri="677fdccf-a178-42ec-afd6-70e79a0126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72D14F-DCDB-42A8-945F-D616276FB4B8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677fdccf-a178-42ec-afd6-70e79a01267c"/>
    <ds:schemaRef ds:uri="http://schemas.microsoft.com/office/infopath/2007/PartnerControls"/>
    <ds:schemaRef ds:uri="http://purl.org/dc/terms/"/>
    <ds:schemaRef ds:uri="6f608f1c-edab-4e05-ab20-9eebfe732fdf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527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RDU4 MADE at Amazon Program</vt:lpstr>
      <vt:lpstr>RDU4 MADE at Amazon Program</vt:lpstr>
      <vt:lpstr>Weekly Initiatives </vt:lpstr>
      <vt:lpstr>Monthly Initiatives </vt:lpstr>
      <vt:lpstr>Quarterly Initiatives </vt:lpstr>
      <vt:lpstr>Annual Initiatives </vt:lpstr>
      <vt:lpstr>PowerPoint Presentation</vt:lpstr>
      <vt:lpstr>PowerPoint Presentation</vt:lpstr>
      <vt:lpstr>PowerPoint Presentation</vt:lpstr>
      <vt:lpstr>PowerPoint Presentation</vt:lpstr>
    </vt:vector>
  </TitlesOfParts>
  <Company>Army Golden Master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RDU4 MADE at Amazon Program</dc:title>
  <dc:creator>Carruth, William E CIV USARMY AMCOM (USA)</dc:creator>
  <cp:lastModifiedBy>Carruth, Chris</cp:lastModifiedBy>
  <cp:revision>4</cp:revision>
  <dcterms:created xsi:type="dcterms:W3CDTF">2025-04-29T00:10:04Z</dcterms:created>
  <dcterms:modified xsi:type="dcterms:W3CDTF">2025-04-30T22:17:46Z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0x010100810DD8FEBDC7F743807C56451107A216</vt:lpwstr>
  </property>
</Properties>
</file>